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5447" y="2287934"/>
            <a:ext cx="8841105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1E40AF"/>
                </a:solidFill>
                <a:latin typeface="Kanit"/>
              </a:rPr>
              <a:t>Document </a:t>
            </a:r>
            <a:r>
              <a:rPr b="1" sz="4800" i="0" u="none">
                <a:solidFill>
                  <a:srgbClr val="3B82F6"/>
                </a:solidFill>
                <a:latin typeface="Kanit"/>
              </a:rPr>
              <a:t>Comparison</a:t>
            </a:r>
            <a:r>
              <a:rPr b="1" sz="4800" i="0" u="none">
                <a:solidFill>
                  <a:srgbClr val="1E40AF"/>
                </a:solidFill>
                <a:latin typeface="Kanit"/>
              </a:rPr>
              <a:t>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0" y="333940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5950" y="3777555"/>
            <a:ext cx="84201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34155"/>
                </a:solidFill>
                <a:latin typeface="Kanit"/>
              </a:rPr>
              <a:t>ระบบตรวจสอบและเปรียบเทียบข้อมูลเอกสารการขนส่งอัจฉริยะ</a:t>
            </a:r>
            <a:r>
              <a:t>
</a:t>
            </a:r>
            <a:r>
              <a:rPr b="0" sz="1950" i="0" u="none">
                <a:solidFill>
                  <a:srgbClr val="334155"/>
                </a:solidFill>
                <a:latin typeface="Kanit"/>
              </a:rPr>
              <a:t> (Bill of Lading vs Shipping Instruction)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-6096000" y="-3429000"/>
            <a:ext cx="24384000" cy="137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24025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59930"/>
            <a:ext cx="5267325" cy="3614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352550"/>
            <a:ext cx="4857750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ความสำคัญของการตรวจสอบเอกสาร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8384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ปัญหาจากการตรวจสอบด้วยมือ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0195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ความเสี่ยงในการคีย์ข้อมูลผิด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1695450"/>
            <a:ext cx="4857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ในธุรกิจการขนส่ง ความถูกต้องของ Bill of Lading (B/L) และ Shipping Instruction (SI) เป็นสิ่งสำคัญยิ่งต่อความราบรื่นของ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1813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การนำเอกสารสองฉบับมาเทียบด้วยสายตาทีละบรรทัด ใช้เวลามาก และเป็นงานที่ซ้ำซ้อน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3624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Human Error สามารถเกิดขึ้นได้ง่ายจากการทำงานที่อาศัยความละเอียดสูง นำไปสู่ความล่าช้าและค่าใช้จ่ายเพิ่มเติม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065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7655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57650"/>
            <a:ext cx="2571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ที่มาและปัญหา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3050"/>
            <a:ext cx="3492400" cy="2946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543050"/>
            <a:ext cx="3492549" cy="2946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1543050"/>
            <a:ext cx="3492400" cy="29467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75596"/>
            <a:ext cx="3492400" cy="27030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650" y="4775596"/>
            <a:ext cx="7270700" cy="27030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1026" y="2997398"/>
            <a:ext cx="3473348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188595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724150"/>
            <a:ext cx="304694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เปรียบเทียบ B/L กับ 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171825"/>
            <a:ext cx="2901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Kanit"/>
              </a:rPr>
              <a:t>ระบบไม่ได้เทียบข้อความทั้งเอกสารแบบรวมกัน แต่จับคู่และเปรียบเทียบข้อมูลตามชื่อ Field ที่กำหนดไว้อย่างแม่นยำ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9175" y="2997398"/>
            <a:ext cx="34735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4925" y="1885950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4925" y="2724150"/>
            <a:ext cx="3047099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ลดเวลาและความผิดพลาด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4925" y="3171825"/>
            <a:ext cx="290199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Kanit"/>
              </a:rPr>
              <a:t>ช่วยลดเวลาตรวจสอบเอกสารด้วยมือ และลดความเสี่ยงของการคีย์ข้อมูลผิดพลาด (Human Error) ได้อย่างมีนัยสำคัญ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7476" y="2997398"/>
            <a:ext cx="3473348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3225" y="1885950"/>
            <a:ext cx="609600" cy="609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23225" y="2724150"/>
            <a:ext cx="304694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แสดงตำแหน่งชัดเจน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3225" y="3171825"/>
            <a:ext cx="29018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Kanit"/>
              </a:rPr>
              <a:t>แสดงกรอบตำแหน่งข้อมูล (Bounding Box) บนภาพเอกสาร PDF เพื่อให้ผู้ใช้งานตรวจทานความแตกต่าง ย้อนกลับไปยังต้นฉบับได้อย่างรวดเร็ว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6" y="6108055"/>
            <a:ext cx="3473348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5118496"/>
            <a:ext cx="609600" cy="609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6775" y="5956696"/>
            <a:ext cx="304694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รองรับหลาย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6404371"/>
            <a:ext cx="2901850" cy="453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Kanit"/>
              </a:rPr>
              <a:t>ออกแบบมาให้รองรับเอกสารจากหลายบริษัท เช่น OOCL, MCKEY, B.FOODS, AJINOMOTO, SIAMCHAI, SURAPON และ POLYPLEX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9176" y="6108055"/>
            <a:ext cx="72516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4925" y="5746105"/>
            <a:ext cx="496192" cy="762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2038350"/>
            <a:ext cx="3810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6375" y="2038350"/>
            <a:ext cx="2667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75625" y="2038350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275" y="5270896"/>
            <a:ext cx="2286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8709" y="5936605"/>
            <a:ext cx="428625" cy="381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26868" y="5628977"/>
            <a:ext cx="619311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การปรับรูปแบบ (Normalization)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6868" y="6076652"/>
            <a:ext cx="5898207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Kanit"/>
              </a:rPr>
              <a:t>ระบบทำความสะอาดข้อความก่อนเทียบ เช่น ตัดช่องว่างเกิน การขึ้นบรรทัดใหม่ เพื่อไม่ให้เกิดการแจ้งความต่างจากแค่รูปแบบการจัดหน้า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ขอบเขตและวัตถุประสงค์ของระบบ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20" y="2259210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835" y="2259210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51" y="225921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866" y="225921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881" y="2259210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352550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Kanit"/>
              </a:rPr>
              <a:t>ระบบประมวลผลผ่านขั้นตอนอัตโนมัติ เพื่อดึงและเปรียบเทียบข้อมูล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3950" y="3335535"/>
            <a:ext cx="99441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4811910"/>
            <a:ext cx="1371600" cy="171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726" y="3211710"/>
            <a:ext cx="1510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Upload &amp;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516510"/>
            <a:ext cx="19887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อัปโหลดไฟล์ PDF (B/L &amp; SI) และเลือก Template ที่สอดคล้อง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5762" y="3211710"/>
            <a:ext cx="11701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Find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515" y="3516510"/>
            <a:ext cx="19887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ค้นหาหัวข้อ/ข้อความอ้างอิงบนหน้า PDF เพื่อหาพิกัด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733" y="3211710"/>
            <a:ext cx="18802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Extract &amp;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1530" y="3516510"/>
            <a:ext cx="19887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อ่านข้อความในพื้นที่กำหนด (Field) และทำความสะอาดข้อความ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5779" y="3211710"/>
            <a:ext cx="13901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Compare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545" y="3516510"/>
            <a:ext cx="19887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เปรียบเทียบแต่ละ Field เน้นเฉพาะตัวอักษรหรือคำที่แตกต่าง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5790" y="3211710"/>
            <a:ext cx="146018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40AF"/>
                </a:solidFill>
                <a:latin typeface="Inter SemiBold"/>
              </a:rPr>
              <a:t>Display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560" y="3516510"/>
            <a:ext cx="19887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แสดงผลข้อความที่ต่าง พร้อมกรอบตำแหน่งบนหน้าเอกสาร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ขั้นตอนการทำงานของระบบ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81150"/>
            <a:ext cx="5286375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2238375"/>
            <a:ext cx="4886325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5049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อัปโหลดเอกสาร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6860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ตรวจสอบความถูกต้อง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8671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เลือก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50482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เริ่มประมวลผล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18478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เลือกไฟล์ PDF ของ Bill of Lading (ฝั่งซ้าย) และ Shipping Instruction (ฝั่งขวา)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0289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ตรวจสอบชื่อไฟล์ที่แสดงใต้ช่องอัปโหลด เพื่อป้องกันการอัปโหลดสลับฝั่ง (ใช้ปุ่ม Clear หากเลือกผิด)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2100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เลือก Template จาก Dropdown ให้ตรงกับรูปแบบของเอกสารจริง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53911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กดปุ่ม "Compare Documents" (หรือ Compare Data) เพื่อเริ่มการเปรียบเทียบ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43050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24150"/>
            <a:ext cx="2000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05250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86350"/>
            <a:ext cx="1714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การใช้งานระบบ: การนำเข้าเอกสาร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52550"/>
            <a:ext cx="5286375" cy="476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073324"/>
            <a:ext cx="4981575" cy="332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2750" y="1352550"/>
            <a:ext cx="4857750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Field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0" y="28384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Discrepancies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4019550"/>
            <a:ext cx="48577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Interactive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1695450"/>
            <a:ext cx="4857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นำข้อมูลแต่ละหัวข้อจาก B/L และ SI มาเทียบกันแบบบรรทัดต่อบรรทัด (Side-by-side) จุดที่แตกต่างจะแสดงสีเตือนอย่างชัดเจน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31813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ระบบสร้างรายการสรุปเฉพาะ Field ที่ข้อมูลไม่ตรงกัน เพื่อให้โฟกัสจุดที่ต้องแก้ไขได้ทันที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43624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เมื่อผู้ใช้คลิกแถวในตาราง หรือคลิก Field ระบบจะเลื่อนและโฟกัสตำแหน่งนั้นบนภาพ PDF อัตโนมัติ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39065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87655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4057650"/>
            <a:ext cx="1714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การแสดงผล: Field Comparison &amp; Discrepancies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85900"/>
            <a:ext cx="5286375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5255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การไฮไลท์สีบนเอกสาร (Bounding Box)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764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ระบบแสดงภาพหน้าแรกของ PDF พร้อมวาดกรอบทับบนตำแหน่งที่ดึงข้อมูล เพื่อความรวดเร็วในการตรวจสอบย้อนกลับ โดยใช้สีสื่อความหมาย: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0765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22C55E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3076575"/>
            <a:ext cx="3362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สีเขียว: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สถานะแสดง Field ที่มีข้อความตรงกันสมบูรณ์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4194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EF444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3419475"/>
            <a:ext cx="29622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สีแดง: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สถานะแสดง Field ที่มีข้อความไม่ตรงกัน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7623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EAB308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3762375"/>
            <a:ext cx="3609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สีเหลือง: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สถานะเมื่อกดเลือกที่ Field นั้นๆ (Focus Mode)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41052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3B82F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4105275"/>
            <a:ext cx="3562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สีน้ำเงิน: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สถานะเมื่อนำเมาส์ไปชี้ (Hover) ที่ตำแหน่ง Field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206674"/>
            <a:ext cx="4981575" cy="3320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Document Preview &amp; Highlight Legend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3100"/>
            <a:ext cx="35559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2225"/>
            <a:ext cx="35559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81350"/>
            <a:ext cx="35559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00475"/>
            <a:ext cx="35559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19600"/>
            <a:ext cx="35559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943100"/>
            <a:ext cx="35559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2562225"/>
            <a:ext cx="35559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7950" y="3181350"/>
            <a:ext cx="35559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3800475"/>
            <a:ext cx="35559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4419600"/>
            <a:ext cx="35559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4400" y="1943100"/>
            <a:ext cx="3556099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4400" y="2562225"/>
            <a:ext cx="3556099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4400" y="3181350"/>
            <a:ext cx="3556099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0" y="3800475"/>
            <a:ext cx="3556099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135255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รายการข้อมูลขึ้นอยู่กับ Template ของเอกสารแต่ละประเภท ตัวอย่างข้อมูลสำคัญที่ระบบครอบคลุม ได้แก่: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725" y="2105025"/>
            <a:ext cx="2286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2724150"/>
            <a:ext cx="2286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" y="3343275"/>
            <a:ext cx="2286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25" y="3962400"/>
            <a:ext cx="2286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7725" y="4581525"/>
            <a:ext cx="2286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94175" y="2105025"/>
            <a:ext cx="2286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94175" y="2724150"/>
            <a:ext cx="2286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94175" y="3343275"/>
            <a:ext cx="2286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94175" y="3962400"/>
            <a:ext cx="2286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94175" y="4581525"/>
            <a:ext cx="2286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40625" y="2105025"/>
            <a:ext cx="2286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0625" y="2724150"/>
            <a:ext cx="2286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40625" y="3343275"/>
            <a:ext cx="2286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40625" y="3962400"/>
            <a:ext cx="2286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66200" y="4924425"/>
            <a:ext cx="952500" cy="952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ข้อมูลที่ระบบรองรับการเปรียบเทียบ (Supported Fields)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6425"/>
            <a:ext cx="5334000" cy="33791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52550"/>
            <a:ext cx="5600700" cy="33337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เครื่องมือและเทคโนโลยี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52550"/>
            <a:ext cx="5600700" cy="33337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ข้อจำกัดปัจจุบัน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838575"/>
            <a:ext cx="5600700" cy="33337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Kanit SemiBold"/>
              </a:rPr>
              <a:t>การพัฒนาต่อยอด (Future Improvements)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0175"/>
            <a:ext cx="228600" cy="228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1025" y="1885950"/>
            <a:ext cx="5314950" cy="336009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1025" y="1885950"/>
          <a:ext cx="5314949" cy="3360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25860"/>
                <a:gridCol w="3189089"/>
              </a:tblGrid>
              <a:tr h="56001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Kanit SemiBold"/>
                        </a:rPr>
                        <a:t>เครื่องมือ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Kanit SemiBold"/>
                        </a:rPr>
                        <a:t>หน้าที่หลัก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</a:tr>
              <a:tr h="5600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Kanit"/>
                        </a:rPr>
                        <a:t>React 19 &amp; Vite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Kanit"/>
                        </a:rPr>
                        <a:t>สร้างและจัดการหน้าจอผู้ใช้งาน (Frontend)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0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Kanit"/>
                        </a:rPr>
                        <a:t>FastAPI &amp; Uvicorn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Kanit"/>
                        </a:rPr>
                        <a:t>รับไฟล์ PDF ให้บริการ API และรัน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00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Kanit"/>
                        </a:rPr>
                        <a:t>PyMuPDF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Kanit"/>
                        </a:rPr>
                        <a:t>ค้นหาข้อความ อ่านพื้นที่ สร้างภาพ PDF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0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Kanit"/>
                        </a:rPr>
                        <a:t>Pillow &amp; pdf2image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Kanit"/>
                        </a:rPr>
                        <a:t>จัดการกระบวนการแปลงและแสดงผลภาพ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001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Kanit"/>
                        </a:rPr>
                        <a:t>Python difflib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Kanit"/>
                        </a:rPr>
                        <a:t>อัลกอริทึมเปรียบเทียบความต่างของข้อความ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700" y="5446067"/>
            <a:ext cx="13716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40017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88620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0" y="5791200"/>
            <a:ext cx="952500" cy="952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5125" y="187642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ประมวลผลหน้าแรกของ PDF เป็นหลัก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40982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เอกสารจำเป็นต้องมี Text Layer ที่ค้นหาได้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943225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Template ต้องสอดคล้องกับรูปแบบเอกสารจริง (หากเปลี่ยนรูปแบบ อาจต้องปรับ Anchor/Offset)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362450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รองรับการประมวลผลหลายหน้า (Multi-page)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895850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ระบบผู้ใช้งานและกำหนดสิทธิ์เข้าถึง (Authentication)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5429250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เก็บประวัติการเปรียบเทียบ และดึงรายงานผล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5962650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Kanit"/>
              </a:rPr>
              <a:t>ส่งออกผลลัพธ์เป็นไฟล์ Excel หรือ 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3008858"/>
            <a:ext cx="2125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6885" y="3008858"/>
            <a:ext cx="3189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025" y="3566963"/>
            <a:ext cx="2125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06885" y="3566963"/>
            <a:ext cx="3189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025" y="4125069"/>
            <a:ext cx="2125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06885" y="4125069"/>
            <a:ext cx="3189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1025" y="4683174"/>
            <a:ext cx="2125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06885" y="4683174"/>
            <a:ext cx="31890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เทคโนโลยีสถาปัตยกรรม &amp; ข้อจำกัด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44079"/>
            <a:ext cx="9525000" cy="48461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3105150"/>
            <a:ext cx="1524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19550" y="1844129"/>
            <a:ext cx="67608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1E40AF"/>
                </a:solidFill>
                <a:latin typeface="Kanit SemiBold"/>
              </a:rPr>
              <a:t>เพิ่มประสิทธิภาพการตรวจสอบเอกสาร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9550" y="5149304"/>
            <a:ext cx="6438900" cy="740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1E40AF"/>
                </a:solidFill>
                <a:latin typeface="Kanit SemiBold"/>
              </a:rPr>
              <a:t>"เครื่องมือที่ช่วยยกระดับความถูกต้อง และความรวดเร็วให้กับงานเอกสารขนส่ง"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9550" y="4958804"/>
            <a:ext cx="643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8175" y="2491829"/>
            <a:ext cx="60102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ลดเวลาและความผิดพลาด</a:t>
            </a:r>
            <a:r>
              <a:rPr b="0" sz="1500" i="0" u="none">
                <a:solidFill>
                  <a:srgbClr val="475569"/>
                </a:solidFill>
                <a:latin typeface="Kanit"/>
              </a:rPr>
              <a:t> เปลี่ยนงาน Manual ที่ซ้ำซ้อนให้เป็นระบบอัตโนมัติ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8175" y="3282404"/>
            <a:ext cx="60102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ตรวจสอบได้อย่างรวดเร็ว</a:t>
            </a:r>
            <a:r>
              <a:rPr b="0" sz="1500" i="0" u="none">
                <a:solidFill>
                  <a:srgbClr val="475569"/>
                </a:solidFill>
                <a:latin typeface="Kanit"/>
              </a:rPr>
              <a:t> การทำ Normalization ช่วยให้โฟกัสเฉพาะจุดที่ผิดจริง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8175" y="4072979"/>
            <a:ext cx="60102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40AF"/>
                </a:solidFill>
                <a:latin typeface="Kanit SemiBold"/>
              </a:rPr>
              <a:t>User-Friendly UI</a:t>
            </a:r>
            <a:r>
              <a:rPr b="0" sz="1500" i="0" u="none">
                <a:solidFill>
                  <a:srgbClr val="475569"/>
                </a:solidFill>
                <a:latin typeface="Kanit"/>
              </a:rPr>
              <a:t> แสดงตำแหน่งความแตกต่างบนหน้าเอกสาร (Bounding Box) ชัดเจน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2529929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3320504"/>
            <a:ext cx="20002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4111079"/>
            <a:ext cx="2000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3810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สรุปคุณค่าของระบบ (Value Proposition)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3000" y="192405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708820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3493591"/>
            <a:ext cx="9906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476452"/>
            <a:ext cx="9906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5261223"/>
            <a:ext cx="9906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69929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69929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48406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484066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6692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466927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25169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525169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623455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234558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734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38375" y="2066925"/>
            <a:ext cx="8810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https://educationalvoice.co.uk/wp-content/uploads/2025/08/v2-zevh9-lhi7c-768x527.jpg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8375" y="2312640"/>
            <a:ext cx="8810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educationalvoice.co.uk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582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38375" y="2851695"/>
            <a:ext cx="8810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https://template.canva.com/EAG3EbRiX0U/1/0/1280w-2kUxOLajtso.jpg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8375" y="3097410"/>
            <a:ext cx="8810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www.canva.com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4213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38375" y="3636466"/>
            <a:ext cx="8810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https://png.pngtree.com/png-vector/20251117/ourlarge/pngtree-secure-document-icon-simple-flat-illustration-for-data-protection-clean-design-vector-png-image_17991421.webp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8375" y="4080271"/>
            <a:ext cx="8810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pngtree.com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62587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38375" y="4619327"/>
            <a:ext cx="8810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https://lookaside.fbsbx.com/lookaside/crawler/media/?media_id=1447022624117805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8375" y="4865042"/>
            <a:ext cx="8810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www.facebook.com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5097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38375" y="5404098"/>
            <a:ext cx="8810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https://static.vecteezy.com/system/resources/previews/079/150/933/non_2x/startup-innovation-light-bulb-icon-with-rocket-symbol-representing-business-launch-growth-and-development-concept-vector.jpg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8375" y="5847903"/>
            <a:ext cx="8810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6492626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38375" y="6386958"/>
            <a:ext cx="8810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Kanit"/>
              </a:rPr>
              <a:t>https://static.vecteezy.com/system/resources/thumbnails/079/881/137/small/milestone-target-goal-and-business-success-icon-set-with-arrow-hit-center-and-flag-symbols-in-outline-solid-black-and-colorful-design-styles-isolated-on-white-background-vector.jpg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8375" y="6830764"/>
            <a:ext cx="8810625" cy="27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Kani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Kanit"/>
              </a:rPr>
              <a:t>www.vecteezy.com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952500"/>
            <a:ext cx="104013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1E40AF"/>
                </a:solidFill>
                <a:latin typeface="Kanit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